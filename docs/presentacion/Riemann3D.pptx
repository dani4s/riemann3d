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c533c2eb44635" /><Relationship Type="http://schemas.openxmlformats.org/officeDocument/2006/relationships/extended-properties" Target="/docProps/app.xml" Id="Raa83619f343c4801" /><Relationship Type="http://schemas.openxmlformats.org/officeDocument/2006/relationships/officeDocument" Target="/ppt/presentation.xml" Id="R43f37a87f59148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79ce2957c4351"/>
  </p:sldMasterIdLst>
  <p:notesMasterIdLst>
    <p:notesMasterId xmlns:r="http://schemas.openxmlformats.org/officeDocument/2006/relationships" r:id="R0b703b4646c24521"/>
  </p:notesMasterIdLst>
  <p:sldIdLst>
    <p:sldId xmlns:r="http://schemas.openxmlformats.org/officeDocument/2006/relationships" id="256" r:id="R4d93b9f168714b75"/>
    <p:sldId xmlns:r="http://schemas.openxmlformats.org/officeDocument/2006/relationships" id="257" r:id="Rbd63d9ae02644fc6"/>
    <p:sldId xmlns:r="http://schemas.openxmlformats.org/officeDocument/2006/relationships" id="258" r:id="R06e17ed9965e4c00"/>
    <p:sldId xmlns:r="http://schemas.openxmlformats.org/officeDocument/2006/relationships" id="259" r:id="Rb797309d83b34062"/>
    <p:sldId xmlns:r="http://schemas.openxmlformats.org/officeDocument/2006/relationships" id="260" r:id="R883cb0dabb4241c9"/>
    <p:sldId xmlns:r="http://schemas.openxmlformats.org/officeDocument/2006/relationships" id="261" r:id="R27a164223390475a"/>
    <p:sldId xmlns:r="http://schemas.openxmlformats.org/officeDocument/2006/relationships" id="262" r:id="R907d6ec946c848aa"/>
    <p:sldId xmlns:r="http://schemas.openxmlformats.org/officeDocument/2006/relationships" id="263" r:id="R27fa840e2670475c"/>
    <p:sldId xmlns:r="http://schemas.openxmlformats.org/officeDocument/2006/relationships" id="264" r:id="Ra9391389217645b7"/>
    <p:sldId xmlns:r="http://schemas.openxmlformats.org/officeDocument/2006/relationships" id="265" r:id="R16959d632e68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5936ba6f3b48fe" /><Relationship Type="http://schemas.openxmlformats.org/officeDocument/2006/relationships/slideMaster" Target="/ppt/slideMasters/slideMaster1.xml" Id="Rdaa79ce2957c4351" /><Relationship Type="http://schemas.openxmlformats.org/officeDocument/2006/relationships/notesMaster" Target="/ppt/notesMasters/notesMaster1.xml" Id="R0b703b4646c24521" /><Relationship Type="http://schemas.openxmlformats.org/officeDocument/2006/relationships/presProps" Target="/ppt/presProps.xml" Id="R3ddccbaff3104e50" /><Relationship Type="http://schemas.openxmlformats.org/officeDocument/2006/relationships/tableStyles" Target="/ppt/tableStyles.xml" Id="R995425bf0fc545ee" /><Relationship Type="http://schemas.openxmlformats.org/officeDocument/2006/relationships/slide" Target="/ppt/slides/slide1.xml" Id="R4d93b9f168714b75" /><Relationship Type="http://schemas.openxmlformats.org/officeDocument/2006/relationships/slide" Target="/ppt/slides/slide2.xml" Id="Rbd63d9ae02644fc6" /><Relationship Type="http://schemas.openxmlformats.org/officeDocument/2006/relationships/slide" Target="/ppt/slides/slide3.xml" Id="R06e17ed9965e4c00" /><Relationship Type="http://schemas.openxmlformats.org/officeDocument/2006/relationships/slide" Target="/ppt/slides/slide4.xml" Id="Rb797309d83b34062" /><Relationship Type="http://schemas.openxmlformats.org/officeDocument/2006/relationships/slide" Target="/ppt/slides/slide5.xml" Id="R883cb0dabb4241c9" /><Relationship Type="http://schemas.openxmlformats.org/officeDocument/2006/relationships/slide" Target="/ppt/slides/slide6.xml" Id="R27a164223390475a" /><Relationship Type="http://schemas.openxmlformats.org/officeDocument/2006/relationships/slide" Target="/ppt/slides/slide7.xml" Id="R907d6ec946c848aa" /><Relationship Type="http://schemas.openxmlformats.org/officeDocument/2006/relationships/slide" Target="/ppt/slides/slide8.xml" Id="R27fa840e2670475c" /><Relationship Type="http://schemas.openxmlformats.org/officeDocument/2006/relationships/slide" Target="/ppt/slides/slide9.xml" Id="Ra9391389217645b7" /><Relationship Type="http://schemas.openxmlformats.org/officeDocument/2006/relationships/slide" Target="/ppt/slides/slide10.xml" Id="R16959d632e68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a43e38096f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8e0d81daf4370" /><Relationship Type="http://schemas.openxmlformats.org/officeDocument/2006/relationships/notesMaster" Target="/ppt/notesMasters/notesMaster1.xml" Id="Rc8ac52421ebf45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cc0c2660e04b74" /><Relationship Type="http://schemas.openxmlformats.org/officeDocument/2006/relationships/notesMaster" Target="/ppt/notesMasters/notesMaster1.xml" Id="R863db477727d47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eb6b30cde4e36" /><Relationship Type="http://schemas.openxmlformats.org/officeDocument/2006/relationships/notesMaster" Target="/ppt/notesMasters/notesMaster1.xml" Id="Re131d878e5a2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b2813ad1c245eb" /><Relationship Type="http://schemas.openxmlformats.org/officeDocument/2006/relationships/notesMaster" Target="/ppt/notesMasters/notesMaster1.xml" Id="Rd329dcaa7ed7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878fd01034b06" /><Relationship Type="http://schemas.openxmlformats.org/officeDocument/2006/relationships/notesMaster" Target="/ppt/notesMasters/notesMaster1.xml" Id="Rcd9d723b4aec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45a08d2de94e62" /><Relationship Type="http://schemas.openxmlformats.org/officeDocument/2006/relationships/notesMaster" Target="/ppt/notesMasters/notesMaster1.xml" Id="Ree634f7a11534c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88564316bb48e4" /><Relationship Type="http://schemas.openxmlformats.org/officeDocument/2006/relationships/notesMaster" Target="/ppt/notesMasters/notesMaster1.xml" Id="R76eb78c59792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f9850efbbd4e14" /><Relationship Type="http://schemas.openxmlformats.org/officeDocument/2006/relationships/notesMaster" Target="/ppt/notesMasters/notesMaster1.xml" Id="R82a9e5903e094a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e3a5a7f374500" /><Relationship Type="http://schemas.openxmlformats.org/officeDocument/2006/relationships/notesMaster" Target="/ppt/notesMasters/notesMaster1.xml" Id="Rf7c74524956145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999c8ccdb84b8b" /><Relationship Type="http://schemas.openxmlformats.org/officeDocument/2006/relationships/notesMaster" Target="/ppt/notesMasters/notesMaster1.xml" Id="Rccfc5f6067f742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0:00–0:45. Abrir el explorador. Objetivo: relacionar función, región, suma y representación. La herramienta permite experimentar y contrastar referencias analíticas. Fuente: plan Riemann3D corregido y proyecto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0:45–1:45. Mostrar el caso inclinado: x+y en [0,2]×[0,1], integral exacta 3. Variar n y abrir la tabla textual. Explicar que un dibujo no sustituye la suma. Fuente: docs/fundamentos.md y js/integrator.js.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1:45–2:45. Seleccionar los dos presets entre curvas. Derivar ∫(x−x²)dx=1/6 y ∫(√y−y)dy=1/6. Señalar el contorno y las bases que pueden sobresalir. Fuente: docs/fundamentos.md.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2:45–4:00. Demostrar en la aplicación el mapeo de una celda cercana y otra lejana al origen. El jacobiano se aplica automáticamente. Los sectores dibujados tienen arcos facetados, pero el área usada es rᵢΔrΔθ. Fuente: docs/fundamentos.md y js/polar.js.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4:00–5:05. Mostrar la caja de base 2×3 y altura 2. Integrar z entre 0 y f para justificar f²/2; no usar f/2 en el numerador. El volumen se mide en u³ y las coordenadas en u. Fuente: docs/fundamentos.md; captura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5:05–6:10. Separar densidad de altura: no hay un volumen físico. Explicar M=π/2 y momento en y=2/3; su cociente da 4/(3π). La tabla permite revisar la densidad sin depender del color. Fuente: docs/fundamentos.md; captura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6:10–7:10. Usar el preset de masa unitaria: ρ=1/π. Explicar la distancia cuadrada al eje. Distinguir estos ejes coordenados de ejes trasladados al centroide. Fuente: docs/fundamentos.md; captura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7:10–8:10. Mostrar el paraboloide y su convergencia. Duplicar n suele dividir por cuatro el error suave. No afirmar orden dos para toda expresión. Abrir docs/validacion-numerica.md, generado de las mismas funciones numéricas. Fuente: tests/validation-report.mjs y docs/fundamentos.md.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8:10–9:10. Mostrar estructura del repositorio: expressionValidator, geometry/polar, integrator/applications y scene. El usuario no ejecuta código arbitrario. Las bibliotecas se incluyen localmente. Fuente: README.md, tests y js/. Las pruebas de navegador cubren además recuperación de errores, teclado y móvil.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9:10–10:00. Cerrar mostrando una entrada inválida y la recuperación. Concluir con el propósito educativo: relacionar geometría, aproximación y significado físico. Las extensiones opcionales del plan no forman parte de esta entrega. Fuente: docs/fundamentos.md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b0e5e7d8747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676f393964178" /><Relationship Type="http://schemas.openxmlformats.org/officeDocument/2006/relationships/slideLayout" Target="/ppt/slideLayouts/slideLayout1.xml" Id="R397caa9cacd0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caa9cacd0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4c7b3bd0245e4" /><Relationship Type="http://schemas.openxmlformats.org/officeDocument/2006/relationships/notesSlide" Target="/ppt/notesSlides/notesSlide1.xml" Id="Rdb04d1b80d1b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ae57362d4fc3" /><Relationship Type="http://schemas.openxmlformats.org/officeDocument/2006/relationships/notesSlide" Target="/ppt/notesSlides/notesSlide2.xml" Id="R6cb1798feee24d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f70d180441a9" /><Relationship Type="http://schemas.openxmlformats.org/officeDocument/2006/relationships/notesSlide" Target="/ppt/notesSlides/notesSlide3.xml" Id="R090caea01c87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7ef79e3d34a4f" /><Relationship Type="http://schemas.openxmlformats.org/officeDocument/2006/relationships/notesSlide" Target="/ppt/notesSlides/notesSlide4.xml" Id="Rc77c573f026341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bcf6cde94009" /><Relationship Type="http://schemas.openxmlformats.org/officeDocument/2006/relationships/image" Target="/ppt/media/image.png" Id="R1440d5267aca4444" /><Relationship Type="http://schemas.openxmlformats.org/officeDocument/2006/relationships/notesSlide" Target="/ppt/notesSlides/notesSlide5.xml" Id="Rcdb58eb097c1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98c9aed21445d" /><Relationship Type="http://schemas.openxmlformats.org/officeDocument/2006/relationships/image" Target="/ppt/media/image2.png" Id="R02c4a00fd97f4545" /><Relationship Type="http://schemas.openxmlformats.org/officeDocument/2006/relationships/notesSlide" Target="/ppt/notesSlides/notesSlide6.xml" Id="R4b5a41a94798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d1d040d8e429b" /><Relationship Type="http://schemas.openxmlformats.org/officeDocument/2006/relationships/image" Target="/ppt/media/image3.png" Id="R26d72f0634174ffb" /><Relationship Type="http://schemas.openxmlformats.org/officeDocument/2006/relationships/notesSlide" Target="/ppt/notesSlides/notesSlide7.xml" Id="Ra12091ec97d1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60613f5284c44" /><Relationship Type="http://schemas.openxmlformats.org/officeDocument/2006/relationships/notesSlide" Target="/ppt/notesSlides/notesSlide8.xml" Id="R4b1e3471871c47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27f9419f4924" /><Relationship Type="http://schemas.openxmlformats.org/officeDocument/2006/relationships/notesSlide" Target="/ppt/notesSlides/notesSlide9.xml" Id="R5d87085093e04e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d68bce2ae4461" /><Relationship Type="http://schemas.openxmlformats.org/officeDocument/2006/relationships/notesSlide" Target="/ppt/notesSlides/notesSlide10.xml" Id="R77a099860e27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5CE4C-DB68-4D02-A520-21001460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5100">
                <a:solidFill>
                  <a:srgbClr val="EDF3FA"/>
                </a:solidFill>
                <a:latin typeface="Arial"/>
                <a:ea typeface="Arial"/>
                <a:cs typeface="Arial"/>
              </a:rPr>
              <a:t>Riemann3D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53A5-F634-461E-90F0-4450882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78E5CF"/>
                </a:solidFill>
                <a:latin typeface="Arial"/>
                <a:ea typeface="Arial"/>
                <a:cs typeface="Arial"/>
              </a:rPr>
              <a:t>De las sumas de Riemann a los modelos físicos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F7DF8-99DE-4091-8A72-8800D6B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Cálculo Vectorial · FES Aragón, UNAM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Rectángulos, regiones entre curvas y coordenadas polares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28D3D-AF71-4C63-A7B3-83D9C7B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287972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FAF8D-0B7C-4870-9BF6-778A4E29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Una muestra por celda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73FF-2DAD-47FA-9CDB-8915BD8B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Iₙ = Σ f(xᵢ, yⱼ) ΔAᵢⱼ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86CF5-8778-43C5-A719-27DB15CD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El punto medio fija la altura de cada prisma.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Las contribuciones negativas conservan su signo.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Refinar n aumenta el número de muestras a n².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A4AF1-2DFD-4F0B-926E-59F9BCD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57889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AB105-0114-4B8D-8ABD-504B778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Una región, dos órdenes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2170D-C0DF-422A-A44A-71D9F66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Área entre y=x² e y=x: 1/6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F6405-1064-496F-8B64-35668E00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Tipo I: 0 ≤ x ≤ 1, x² ≤ y ≤ x.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Tipo II: 0 ≤ y ≤ 1, y ≤ x ≤ √y.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Las franjas usan límites evaluados en su punto medio.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9085F-39F0-4611-9768-93702C5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2057084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C017F-BA13-43AF-948D-0C8B53B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En polares, el área depende del radio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87B2D-E846-4ACF-B7EC-2F3B9E3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dA = r dr dθ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91A0A-B141-4633-937C-A367ECE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x = r cosθ, y = r sinθ.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Paraboloide de radio 2: ∫∫ r²·r dr dθ = 8π.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Hemisferio unitario: ∫∫ √(1−r²)·r dr dθ = 2π/3.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249D6-01E9-47BC-A7A5-920BD205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565892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40132-9B25-4754-9775-4FB3B5D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Sólido bajo una superficie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0EFE5-8B54-4303-8F25-6E10C6E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V = ∫∫ f 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53AF7-0653-4880-8F1B-B8C54C00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Densidad volumétrica uniforme.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x̄ = ∫∫ xf dA / V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ȳ = ∫∫ yf dA / V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z̄ = ∫∫ (f²/2) dA /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Caja: V=12; centroide (1, 1.5, 1).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0d5267aca4444"/>
          <a:stretch xmlns:a="http://schemas.openxmlformats.org/drawingml/2006/main"/>
        </p:blipFill>
        <p:spPr>
          <a:xfrm xmlns:a="http://schemas.openxmlformats.org/drawingml/2006/main">
            <a:off x="6712479" y="2619375"/>
            <a:ext cx="4482042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56BD9-FECF-4B7E-9E04-9FF9544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573789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AE10E-403C-49C4-87FF-503175EF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Lámina plana con densidad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A56DD-D434-42F1-8A4A-FBC6C975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M = ∫∫ ρ 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C77AB-8A1C-430F-A277-6494CC9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La densidad tiene unidades uₘ/u².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La lámina permanece en z=0.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Semicírculo uniforme: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x̄=0, ȳ=4/(3π) ≈ 0.424413.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El color indica densidad.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4a00fd97f4545"/>
          <a:stretch xmlns:a="http://schemas.openxmlformats.org/drawingml/2006/main"/>
        </p:blipFill>
        <p:spPr>
          <a:xfrm xmlns:a="http://schemas.openxmlformats.org/drawingml/2006/main">
            <a:off x="6990562" y="2619375"/>
            <a:ext cx="3925876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EBF5-A537-4921-9A63-B4B18E3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860935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BD829-615D-4CB0-B600-D3ABF09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Inercia respecto de los ejes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C7318-4E8D-4DEC-971A-F932D37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Iₒ = Iₓ + Iᵧ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32BB5-8F30-4803-97CE-BF59FB87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Iₓ = ∫∫ y²ρ dA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Iᵧ = ∫∫ x²ρ 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Disco unitario de masa M: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Iₒ=M/2; Iₓ=Iᵧ=M/4.</a:t>
            </a:r>
          </a:p>
          <a:p xmlns:a="http://schemas.openxmlformats.org/drawingml/2006/main">
            <a:pPr>
              <a:defRPr sz="2025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C6D8E8"/>
                </a:solidFill>
                <a:latin typeface="Arial"/>
                <a:ea typeface="Arial"/>
                <a:cs typeface="Arial"/>
              </a:rPr>
              <a:t>Unidades: uₘ·u².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2f0634174ffb"/>
          <a:stretch xmlns:a="http://schemas.openxmlformats.org/drawingml/2006/main"/>
        </p:blipFill>
        <p:spPr>
          <a:xfrm xmlns:a="http://schemas.openxmlformats.org/drawingml/2006/main">
            <a:off x="6990562" y="2619375"/>
            <a:ext cx="3925876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6C6D0-2EEA-4D9A-A7BD-6D3AB15C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23888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ADCD-F9A0-465E-A2BF-3A4D8BC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El error se comprueba al refinar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C34C5-2561-4C1D-9CE1-A7BF9B5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Eₙ = |I − Iₙ|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8426-9D55-47E8-938B-C3C5D48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p = log₂(Eₙ/₂ / Eₙ); para funciones suaves, p ≈ 2.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Sin referencia exacta se informa sólo una diferencia.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El hemisferio tiene una derivada singular en el borde.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La tabla de física separa errores de centroides e inercias.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2851-DF60-49A4-A1C9-48A7DEBD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429035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2FC5D-7675-4446-B128-3C27391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Cálculo y visualización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A0C8B-F163-4C1C-B480-13B11C26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Validar → particionar → integrar → representar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0C5F2-2C1A-40C0-B237-E23ECDC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JavaScript con módulos ES, sin framework ni compilación.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AST con lista blanca; cálculo en Web Worker.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Una malla compartida o agrupada limita los draw calls.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49 pruebas Node y comprobaciones locales en Chromium.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7204C-D21E-4863-AB92-CAFE589C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308895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CDFE0-A7EA-4B3C-B39C-6450CA3F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DF3FA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EDF3FA"/>
                </a:solidFill>
                <a:latin typeface="Arial"/>
                <a:ea typeface="Arial"/>
                <a:cs typeface="Arial"/>
              </a:rPr>
              <a:t>Interpretar los resultados con sus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926B-D181-4BD3-9EDF-52C03E8D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78E5C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78E5CF"/>
                </a:solidFill>
                <a:latin typeface="Arial"/>
                <a:ea typeface="Arial"/>
                <a:cs typeface="Arial"/>
              </a:rPr>
              <a:t>Una suma finita no certifica integrabilidad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BFF60-DD68-4046-8D23-439C333F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Se revisan muestras; puede haber singularidades entre ellas.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Alturas o densidades negativas se rechazan en física.</a:t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Un total nulo no tiene centroide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C6D8E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C6D8E8"/>
                </a:solidFill>
                <a:latin typeface="Arial"/>
                <a:ea typeface="Arial"/>
                <a:cs typeface="Arial"/>
              </a:rPr>
              <a:t>Demostración y código: github.com/Dani4s/Riemann3D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B12A-4891-4277-A681-4ACA4FE4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AB9C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9C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376077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2026-09-19T01:59:11.9090000Z</dcterms:created>
  <dcterms:modified xsi:type="dcterms:W3CDTF">2026-09-19T01:59:11.9090000Z</dcterms:modified>
</coreProperties>
</file>